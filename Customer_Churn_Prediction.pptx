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0933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34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on Telco Customer Dataset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3E5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743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274320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3E5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2743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86200" y="274320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3E5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2743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274320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3E5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2743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69480" y="274320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1E3E5C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2743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6828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Keshav Gupta &amp; Mudassir Iftikhar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in this presentation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2743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406908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420624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35608"/>
            <a:ext cx="4206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78408" y="14721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1764792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churn, 7K customers, class imbalance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276856"/>
            <a:ext cx="406908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276856"/>
            <a:ext cx="420624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95144"/>
            <a:ext cx="4206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78408" y="23317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" y="2624328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 and churn drivers in the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136392"/>
            <a:ext cx="406908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136392"/>
            <a:ext cx="420624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54680"/>
            <a:ext cx="4206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8408" y="319125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8408" y="348386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scaling, SMOTE for class balance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995928"/>
            <a:ext cx="406908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995928"/>
            <a:ext cx="420624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14216"/>
            <a:ext cx="4206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8408" y="40507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8408" y="434340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ML classifiers trained and compared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417320"/>
            <a:ext cx="406908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1417320"/>
            <a:ext cx="420624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435608"/>
            <a:ext cx="4206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21808" y="14721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21808" y="1764792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ROC-AUC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276856"/>
            <a:ext cx="406908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276856"/>
            <a:ext cx="420624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295144"/>
            <a:ext cx="4206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21808" y="23317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21808" y="2624328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on top models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136392"/>
            <a:ext cx="406908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136392"/>
            <a:ext cx="420624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154680"/>
            <a:ext cx="4206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21808" y="319125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21808" y="348386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and business insights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995928"/>
            <a:ext cx="406908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46320" y="3995928"/>
            <a:ext cx="420624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014216"/>
            <a:ext cx="4206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21808" y="40507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21808" y="434340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churn reduction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  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2743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182880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90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9842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417320"/>
            <a:ext cx="182880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490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14600" y="19842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182880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490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480560" y="19842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417320"/>
            <a:ext cx="182880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490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46520" y="19842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(fixed)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633472"/>
            <a:ext cx="19933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633472"/>
            <a:ext cx="64008" cy="960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7249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017520"/>
            <a:ext cx="18105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SeniorCitizen,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Partner, Dependents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79192" y="2633472"/>
            <a:ext cx="19933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79192" y="2633472"/>
            <a:ext cx="64008" cy="960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27249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16352" y="3017520"/>
            <a:ext cx="18105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Internet, Security,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Backup, Streaming…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55464" y="2633472"/>
            <a:ext cx="19933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55464" y="2633472"/>
            <a:ext cx="64008" cy="960120"/>
          </a:xfrm>
          <a:prstGeom prst="rect">
            <a:avLst/>
          </a:prstGeom>
          <a:solidFill>
            <a:srgbClr val="D46B08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27249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92624" y="3017520"/>
            <a:ext cx="18105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PaperlessBilling,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PaymentMethod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31736" y="2633472"/>
            <a:ext cx="19933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031736" y="2633472"/>
            <a:ext cx="64008" cy="960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68896" y="2724912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68896" y="3017520"/>
            <a:ext cx="181051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TotalCharges, tenure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3794760"/>
            <a:ext cx="8229600" cy="320040"/>
          </a:xfrm>
          <a:prstGeom prst="rect">
            <a:avLst/>
          </a:prstGeom>
          <a:solidFill>
            <a:srgbClr val="D6E4F5"/>
          </a:solidFill>
          <a:ln/>
        </p:spPr>
        <p:txBody>
          <a:bodyPr wrap="square" lIns="50800" tIns="101600" rIns="1016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 Class Imbalance — 73.5% No Churn vs 26.5% Churn  →  SMOTE applied during training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 about churn behaviour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2743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89888"/>
            <a:ext cx="4846320" cy="5212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89888"/>
            <a:ext cx="54864" cy="5212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2646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636776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42% vs just 3% on 2-year contracts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975104"/>
            <a:ext cx="4846320" cy="5212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975104"/>
            <a:ext cx="54864" cy="5212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01168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222199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have median tenure of ~10 months vs ~38 months retained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560320"/>
            <a:ext cx="4846320" cy="5212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560320"/>
            <a:ext cx="54864" cy="521208"/>
          </a:xfrm>
          <a:prstGeom prst="rect">
            <a:avLst/>
          </a:prstGeom>
          <a:solidFill>
            <a:srgbClr val="D46B08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596896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" y="2807208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pay more per month — concentrated in $60–$100 range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145536"/>
            <a:ext cx="4846320" cy="5212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145536"/>
            <a:ext cx="54864" cy="521208"/>
          </a:xfrm>
          <a:prstGeom prst="rect">
            <a:avLst/>
          </a:prstGeom>
          <a:solidFill>
            <a:srgbClr val="D46B08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18211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Service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" y="339242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users churn at 41% — highest of any internet tier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730752"/>
            <a:ext cx="4846320" cy="5212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730752"/>
            <a:ext cx="54864" cy="521208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76732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3977640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payers churn at 45% — highest of all payment types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315968"/>
            <a:ext cx="4846320" cy="521208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315968"/>
            <a:ext cx="54864" cy="521208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435254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Add-ons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" y="4562856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Online Security or Tech Support churn 3× more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77840" y="137160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100" dirty="0"/>
          </a:p>
        </p:txBody>
      </p:sp>
      <p:pic>
        <p:nvPicPr>
          <p:cNvPr id="30" name="Image 0" descr="/home/claude/churn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664208"/>
            <a:ext cx="3337560" cy="14630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577840" y="324612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insight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577840" y="3520440"/>
            <a:ext cx="3337560" cy="96012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76200" tIns="127000" rIns="1270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vs Churn: </a:t>
            </a: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−0.35
</a:t>
            </a: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vs tenure: </a:t>
            </a: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+0.83
</a:t>
            </a: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 vs Churn: </a:t>
            </a: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+0.19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data into model-ready arrays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2743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17320"/>
            <a:ext cx="150876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150876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rows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features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1956816"/>
            <a:ext cx="201168" cy="5486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75688" y="1892808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48840" y="1417320"/>
            <a:ext cx="150876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1417320"/>
            <a:ext cx="150876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141732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Fix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1719072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→ NaN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1956816"/>
            <a:ext cx="201168" cy="5486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13048" y="1892808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86200" y="1417320"/>
            <a:ext cx="150876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86200" y="1417320"/>
            <a:ext cx="150876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141732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1719072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OrdinalEncoder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1956816"/>
            <a:ext cx="201168" cy="5486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0408" y="1892808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23560" y="1417320"/>
            <a:ext cx="150876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1417320"/>
            <a:ext cx="1508760" cy="256032"/>
          </a:xfrm>
          <a:prstGeom prst="rect">
            <a:avLst/>
          </a:prstGeom>
          <a:solidFill>
            <a:srgbClr val="D46B08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141732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1719072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32320" y="1956816"/>
            <a:ext cx="201168" cy="54864"/>
          </a:xfrm>
          <a:prstGeom prst="rect">
            <a:avLst/>
          </a:prstGeom>
          <a:solidFill>
            <a:srgbClr val="6B7B8D"/>
          </a:solidFill>
          <a:ln w="12700">
            <a:solidFill>
              <a:srgbClr val="6B7B8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87768" y="1892808"/>
            <a:ext cx="109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60920" y="1417320"/>
            <a:ext cx="150876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60920" y="1417320"/>
            <a:ext cx="1508760" cy="256032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141732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06640" y="1719072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minority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(churn)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288036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" y="2880360"/>
            <a:ext cx="64008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2971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set (after SMOTE)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32644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50/50 minority oversampled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83280" y="288036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83280" y="2880360"/>
            <a:ext cx="64008" cy="822960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2971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(unchanged)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20440" y="32644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1,409 samples, real distribution 26.5% churn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63640" y="2880360"/>
            <a:ext cx="2697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63640" y="2880360"/>
            <a:ext cx="64008" cy="822960"/>
          </a:xfrm>
          <a:prstGeom prst="rect">
            <a:avLst/>
          </a:prstGeom>
          <a:solidFill>
            <a:srgbClr val="D46B08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2971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0" y="32644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features (numeric + ordinal-encoded categorical)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" y="39136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preprocessor (ColumnTransformer) is fitted only on the training set to prevent data leakage.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classifiers compared on the same test 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2743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6060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5B8DB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2606040" cy="32918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3560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01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scikit-learn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0253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Linear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2219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max_iter=1000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class_weight=balanced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6060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6BAE7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17320"/>
            <a:ext cx="2606040" cy="329184"/>
          </a:xfrm>
          <a:prstGeom prst="rect">
            <a:avLst/>
          </a:prstGeom>
          <a:solidFill>
            <a:srgbClr val="6BAE75"/>
          </a:solidFill>
          <a:ln w="12700">
            <a:solidFill>
              <a:srgbClr val="6BA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43560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801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A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scikit-learn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00253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Tree-based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2219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max_depth=10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class_weight=balanced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26060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6B0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417320"/>
            <a:ext cx="2606040" cy="329184"/>
          </a:xfrm>
          <a:prstGeom prst="rect">
            <a:avLst/>
          </a:prstGeom>
          <a:solidFill>
            <a:srgbClr val="D46B08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43560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1801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6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scikit-learn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200253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Ensemble (Bagging)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72200" y="22219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n_jobs=−1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444752" y="2971800"/>
            <a:ext cx="26060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444752" y="2971800"/>
            <a:ext cx="2606040" cy="32918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36192" y="29900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36192" y="33558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xgboost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36192" y="355701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Ensemble (Boosting)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36192" y="37764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lr=0.1, depth=5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eval_metric=logloss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33672" y="2971800"/>
            <a:ext cx="26060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33672" y="2971800"/>
            <a:ext cx="2606040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25112" y="29900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325112" y="33558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lightgbm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25112" y="355701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Ensemble (Boosting)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25112" y="37764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lr=0.1, depth=5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num_leaves=31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736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saved as .joblib files  ·  Trained on SMOTE-balanced data  ·  Evaluated on the original test distribution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1,409 held-out samples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2743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53312"/>
          <a:ext cx="5321808" cy="234086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5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7F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Log.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46B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89320" y="13533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— All Models</a:t>
            </a:r>
            <a:endParaRPr lang="en-US" sz="1100" dirty="0"/>
          </a:p>
        </p:txBody>
      </p:sp>
      <p:pic>
        <p:nvPicPr>
          <p:cNvPr id="7" name="Image 0" descr="/home/claude/roc_curves_all_model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9320" y="1627632"/>
            <a:ext cx="2926080" cy="2176272"/>
          </a:xfrm>
          <a:prstGeom prst="rect">
            <a:avLst/>
          </a:prstGeom>
        </p:spPr>
      </p:pic>
      <p:sp>
        <p:nvSpPr>
          <p:cNvPr id="5" name="Shape 4"/>
          <p:cNvSpPr/>
          <p:nvPr/>
        </p:nvSpPr>
        <p:spPr>
          <a:xfrm>
            <a:off x="502920" y="4059936"/>
            <a:ext cx="8412480" cy="420624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4059936"/>
            <a:ext cx="8275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Best model: XGBoost  (ROC-AUC = 0.834)  ·  LightGBM is a very close second (0.833)  ·  Both gradient boosting models outperform simpler classifiers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— Best Models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vs LightGBM on the test set (1,409 samples)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2743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63440" y="13533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400" dirty="0"/>
          </a:p>
        </p:txBody>
      </p:sp>
      <p:pic>
        <p:nvPicPr>
          <p:cNvPr id="7" name="Image 0" descr="/home/claude/cm_XGBoo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627632"/>
            <a:ext cx="3931920" cy="3200400"/>
          </a:xfrm>
          <a:prstGeom prst="rect">
            <a:avLst/>
          </a:prstGeom>
        </p:spPr>
      </p:pic>
      <p:pic>
        <p:nvPicPr>
          <p:cNvPr id="8" name="Image 1" descr="/home/claude/cm_LightGB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1627632"/>
            <a:ext cx="393192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46817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872 TN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2920" y="4873752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predicted no churn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606040" y="46817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 TP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606040" y="4873752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correctly caught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709160" y="46817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6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FP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709160" y="4873752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raised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6812280" y="46817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FN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812280" y="4873752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missed (costly!)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SHAP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churn — XGBoost &amp; LightGBM agree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138160" cy="27432"/>
          </a:xfrm>
          <a:prstGeom prst="rect">
            <a:avLst/>
          </a:prstGeom>
          <a:solidFill>
            <a:srgbClr val="D6E4F5"/>
          </a:solidFill>
          <a:ln w="12700">
            <a:solidFill>
              <a:srgbClr val="D6E4F5"/>
            </a:solidFill>
            <a:prstDash val="solid"/>
          </a:ln>
        </p:spPr>
      </p:sp>
      <p:pic>
        <p:nvPicPr>
          <p:cNvPr id="5" name="Image 0" descr="/home/claude/shap_bar_XGBoo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371600"/>
            <a:ext cx="4114800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18888" y="128930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Drivers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1719072"/>
            <a:ext cx="404164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46320" y="1719072"/>
            <a:ext cx="64008" cy="60350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83480" y="1810512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Contract Type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83480" y="2103120"/>
            <a:ext cx="38587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→ 42% churn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Two-year → only 3% churn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2386584"/>
            <a:ext cx="404164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2386584"/>
            <a:ext cx="64008" cy="60350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2478024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Tenure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3480" y="2770632"/>
            <a:ext cx="38587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Short-tenured customers are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churn risk (&lt; 12 months)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46320" y="3054096"/>
            <a:ext cx="404164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3054096"/>
            <a:ext cx="64008" cy="603504"/>
          </a:xfrm>
          <a:prstGeom prst="rect">
            <a:avLst/>
          </a:prstGeom>
          <a:solidFill>
            <a:srgbClr val="D46B08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3145536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Monthly Charges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83480" y="3438144"/>
            <a:ext cx="38587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bills strongly correlate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increased churn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3721608"/>
            <a:ext cx="404164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46320" y="3721608"/>
            <a:ext cx="64008" cy="603504"/>
          </a:xfrm>
          <a:prstGeom prst="rect">
            <a:avLst/>
          </a:prstGeom>
          <a:solidFill>
            <a:srgbClr val="D46B08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83480" y="3813048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Payment Method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983480" y="4105656"/>
            <a:ext cx="38587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users churn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45% — highest of all types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46320" y="4389120"/>
            <a:ext cx="404164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46320" y="4389120"/>
            <a:ext cx="64008" cy="603504"/>
          </a:xfrm>
          <a:prstGeom prst="rect">
            <a:avLst/>
          </a:prstGeom>
          <a:solidFill>
            <a:srgbClr val="1A7F5A"/>
          </a:solidFill>
          <a:ln w="12700">
            <a:solidFill>
              <a:srgbClr val="1A7F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83480" y="4480560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 Online Security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83480" y="4773168"/>
            <a:ext cx="38587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 add-on → 3× higher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vs subscribers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05643" y="4819990"/>
            <a:ext cx="4212077" cy="254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= SHapley Additive exPlanations — measures each feature's contribution to every individual prediction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8D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8412480" cy="27432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60120"/>
            <a:ext cx="4160520" cy="1207008"/>
          </a:xfrm>
          <a:prstGeom prst="rect">
            <a:avLst/>
          </a:prstGeom>
          <a:solidFill>
            <a:srgbClr val="1E3E5C"/>
          </a:solidFill>
          <a:ln w="12700">
            <a:solidFill>
              <a:srgbClr val="2A52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60120"/>
            <a:ext cx="54864" cy="1207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9593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39593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achieved the highest ROC-AUC of 0.834, closely followed by LightGBM (0.833). Both are recommended for production deployment.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4160520" cy="1207008"/>
          </a:xfrm>
          <a:prstGeom prst="rect">
            <a:avLst/>
          </a:prstGeom>
          <a:solidFill>
            <a:srgbClr val="1E3E5C"/>
          </a:solidFill>
          <a:ln w="12700">
            <a:solidFill>
              <a:srgbClr val="2A52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286000"/>
            <a:ext cx="54864" cy="1207008"/>
          </a:xfrm>
          <a:prstGeom prst="rect">
            <a:avLst/>
          </a:prstGeom>
          <a:solidFill>
            <a:srgbClr val="F4C44A"/>
          </a:solidFill>
          <a:ln w="12700">
            <a:solidFill>
              <a:srgbClr val="F4C4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39593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Insight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651760"/>
            <a:ext cx="39593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is the #1 churn driver. Migrating month-to-month customers to annual contracts is the single most impactful retention action.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4160520" cy="1207008"/>
          </a:xfrm>
          <a:prstGeom prst="rect">
            <a:avLst/>
          </a:prstGeom>
          <a:solidFill>
            <a:srgbClr val="1E3E5C"/>
          </a:solidFill>
          <a:ln w="12700">
            <a:solidFill>
              <a:srgbClr val="2A52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611880"/>
            <a:ext cx="54864" cy="1207008"/>
          </a:xfrm>
          <a:prstGeom prst="rect">
            <a:avLst/>
          </a:prstGeom>
          <a:solidFill>
            <a:srgbClr val="6DBEAA"/>
          </a:solidFill>
          <a:ln w="12700">
            <a:solidFill>
              <a:srgbClr val="6DBE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03320"/>
            <a:ext cx="39593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B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Works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39593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SMOTE to the training set improved recall for the minority churn class without overfitting to synthetic samples on the test set.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92040" y="960120"/>
            <a:ext cx="4160520" cy="1207008"/>
          </a:xfrm>
          <a:prstGeom prst="rect">
            <a:avLst/>
          </a:prstGeom>
          <a:solidFill>
            <a:srgbClr val="1E3E5C"/>
          </a:solidFill>
          <a:ln w="12700">
            <a:solidFill>
              <a:srgbClr val="2A52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960120"/>
            <a:ext cx="54864" cy="1207008"/>
          </a:xfrm>
          <a:prstGeom prst="rect">
            <a:avLst/>
          </a:prstGeom>
          <a:solidFill>
            <a:srgbClr val="D46B08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051560"/>
            <a:ext cx="39593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6B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1325880"/>
            <a:ext cx="39593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tenure &lt; 12 months and high monthly charges via electronic check are the highest-risk segment. Target them first.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2286000"/>
            <a:ext cx="4160520" cy="1207008"/>
          </a:xfrm>
          <a:prstGeom prst="rect">
            <a:avLst/>
          </a:prstGeom>
          <a:solidFill>
            <a:srgbClr val="1E3E5C"/>
          </a:solidFill>
          <a:ln w="12700">
            <a:solidFill>
              <a:srgbClr val="2A52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2286000"/>
            <a:ext cx="54864" cy="1207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377440"/>
            <a:ext cx="395935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2651760"/>
            <a:ext cx="395935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XGBoost model, score all customers monthly, adjust the decision threshold to balance precision vs recall per campaign budget.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A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929</Words>
  <Application>Microsoft Office PowerPoint</Application>
  <PresentationFormat>On-screen Show (16:9)</PresentationFormat>
  <Paragraphs>237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</dc:title>
  <dc:subject>PptxGenJS Presentation</dc:subject>
  <dc:creator>PptxGenJS</dc:creator>
  <cp:lastModifiedBy>keshav gupta</cp:lastModifiedBy>
  <cp:revision>2</cp:revision>
  <dcterms:created xsi:type="dcterms:W3CDTF">2026-05-27T18:45:36Z</dcterms:created>
  <dcterms:modified xsi:type="dcterms:W3CDTF">2026-05-27T19:20:24Z</dcterms:modified>
</cp:coreProperties>
</file>